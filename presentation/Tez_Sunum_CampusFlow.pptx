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106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Geleneksel LMS</c:v>
                </c:pt>
              </c:strCache>
            </c:strRef>
          </c:tx>
          <c:spPr>
            <a:solidFill>
              <a:srgbClr val="6F686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Şeffaflık</c:v>
                </c:pt>
                <c:pt idx="1">
                  <c:v>Efor ölçümü</c:v>
                </c:pt>
                <c:pt idx="2">
                  <c:v>Otomasyon</c:v>
                </c:pt>
                <c:pt idx="3">
                  <c:v>Çevik pratik</c:v>
                </c:pt>
                <c:pt idx="4">
                  <c:v>Adil not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C0-5948-A51A-8E92811A3E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CampusFlow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Şeffaflık</c:v>
                </c:pt>
                <c:pt idx="1">
                  <c:v>Efor ölçümü</c:v>
                </c:pt>
                <c:pt idx="2">
                  <c:v>Otomasyon</c:v>
                </c:pt>
                <c:pt idx="3">
                  <c:v>Çevik pratik</c:v>
                </c:pt>
                <c:pt idx="4">
                  <c:v>Adil not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</c:v>
                </c:pt>
                <c:pt idx="1">
                  <c:v>9</c:v>
                </c:pt>
                <c:pt idx="2">
                  <c:v>8</c:v>
                </c:pt>
                <c:pt idx="3">
                  <c:v>9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0C0-5948-A51A-8E92811A3E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C95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14110E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9C958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4110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6707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Kendini ve projeyi tanıt. CampusFlow, üniversite grup projelerini koddan nota tek bir akışta yöneten, yapay zekâ destekli çevik bir platformdur.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grafik niteliksel/kavramsal bir karşılaştırmadır. Gerçek ölçümlerin (yanıt süresi, kullanıcı testi sonuçları) varsa buraya ekleyebilirsin.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1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2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05156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23160" y="1078992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kern="0" spc="-10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</a:t>
            </a:r>
            <a:r>
              <a:rPr lang="en-US" sz="5600" b="1" kern="0" spc="-1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2450592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08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IŞIK ÜNİVERSİTESİ · YÖNETİM BİLİŞİM SİSTEMLERİ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68680" y="320040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Yapay Zekâ Destekli Akademik Çevik Süreç Platformu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86968" y="44348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Koddan nota uzanan tek, adil bir akış — grup projelerinde gerçek katkıyı yapay zekâ ile şeffaf değerlendirir.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86968" y="5257800"/>
            <a:ext cx="10424160" cy="0"/>
          </a:xfrm>
          <a:prstGeom prst="line">
            <a:avLst/>
          </a:prstGeom>
          <a:noFill/>
          <a:ln w="12700">
            <a:solidFill>
              <a:srgbClr val="3A332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886968" y="54864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73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HAZIRLAYAN
</a:t>
            </a:r>
            <a:endParaRPr lang="en-US" sz="1050" dirty="0"/>
          </a:p>
          <a:p>
            <a:pPr marL="0" indent="0">
              <a:buNone/>
            </a:pPr>
            <a:r>
              <a:rPr lang="en-US" sz="17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Oğulcan Kacar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86968" y="60533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3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 No: 21YÖBİ1015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669280" y="54864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73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DANIŞMAN
</a:t>
            </a:r>
            <a:endParaRPr lang="en-US" sz="1050" dirty="0"/>
          </a:p>
          <a:p>
            <a:pPr marL="0" indent="0">
              <a:buNone/>
            </a:pPr>
            <a:r>
              <a:rPr lang="en-US" sz="17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Şahin Aydın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692640" y="54864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50" b="1" kern="0" spc="200" dirty="0">
                <a:solidFill>
                  <a:srgbClr val="73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
</a:t>
            </a:r>
            <a:endParaRPr lang="en-US" sz="1050" dirty="0"/>
          </a:p>
          <a:p>
            <a:pPr marL="0" indent="0" algn="r">
              <a:buNone/>
            </a:pPr>
            <a:r>
              <a:rPr lang="en-US" sz="17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BAKIŞ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İçindekiler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786384"/>
          </a:xfrm>
          <a:prstGeom prst="roundRect">
            <a:avLst>
              <a:gd name="adj" fmla="val 11628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914400" y="1947672"/>
            <a:ext cx="457200" cy="457200"/>
          </a:xfrm>
          <a:prstGeom prst="ellipse">
            <a:avLst/>
          </a:prstGeom>
          <a:solidFill>
            <a:srgbClr val="1D1410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2061972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822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423160" y="189280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ve Motivasyon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423160" y="220370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ve araştırmanın önemi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697480"/>
            <a:ext cx="10908792" cy="786384"/>
          </a:xfrm>
          <a:prstGeom prst="roundRect">
            <a:avLst>
              <a:gd name="adj" fmla="val 11628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914400" y="2862072"/>
            <a:ext cx="457200" cy="457200"/>
          </a:xfrm>
          <a:prstGeom prst="ellipse">
            <a:avLst/>
          </a:prstGeom>
          <a:solidFill>
            <a:srgbClr val="1D1410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2976372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697480"/>
            <a:ext cx="822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2423160" y="280720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Literatür Araştırması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2423160" y="311810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İlgili çalışmalar ve boşluk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3611880"/>
            <a:ext cx="10908792" cy="786384"/>
          </a:xfrm>
          <a:prstGeom prst="roundRect">
            <a:avLst>
              <a:gd name="adj" fmla="val 11628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3"/>
          <p:cNvSpPr/>
          <p:nvPr/>
        </p:nvSpPr>
        <p:spPr>
          <a:xfrm>
            <a:off x="914400" y="3776472"/>
            <a:ext cx="457200" cy="457200"/>
          </a:xfrm>
          <a:prstGeom prst="ellipse">
            <a:avLst/>
          </a:prstGeom>
          <a:solidFill>
            <a:srgbClr val="1D1410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" y="3890772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3611880"/>
            <a:ext cx="822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2423160" y="372160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Metodoloji ve Sistem Tasarımı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2423160" y="403250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Yöntem, mimari, veri tabanı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40080" y="4526280"/>
            <a:ext cx="10908792" cy="786384"/>
          </a:xfrm>
          <a:prstGeom prst="roundRect">
            <a:avLst>
              <a:gd name="adj" fmla="val 11628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18"/>
          <p:cNvSpPr/>
          <p:nvPr/>
        </p:nvSpPr>
        <p:spPr>
          <a:xfrm>
            <a:off x="914400" y="4690872"/>
            <a:ext cx="457200" cy="457200"/>
          </a:xfrm>
          <a:prstGeom prst="ellipse">
            <a:avLst/>
          </a:prstGeom>
          <a:solidFill>
            <a:srgbClr val="1D1410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700" y="4805172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54480" y="4526280"/>
            <a:ext cx="822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2423160" y="463600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ve Bulgular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2423160" y="494690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Geliştirilen sistem ve analiz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640080" y="5440680"/>
            <a:ext cx="10908792" cy="786384"/>
          </a:xfrm>
          <a:prstGeom prst="roundRect">
            <a:avLst>
              <a:gd name="adj" fmla="val 11628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9" name="Shape 23"/>
          <p:cNvSpPr/>
          <p:nvPr/>
        </p:nvSpPr>
        <p:spPr>
          <a:xfrm>
            <a:off x="914400" y="5605272"/>
            <a:ext cx="457200" cy="457200"/>
          </a:xfrm>
          <a:prstGeom prst="ellipse">
            <a:avLst/>
          </a:prstGeom>
          <a:solidFill>
            <a:srgbClr val="1D1410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" y="5719572"/>
            <a:ext cx="228600" cy="2286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554480" y="5440680"/>
            <a:ext cx="822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600" dirty="0"/>
          </a:p>
        </p:txBody>
      </p:sp>
      <p:sp>
        <p:nvSpPr>
          <p:cNvPr id="32" name="Text 25"/>
          <p:cNvSpPr/>
          <p:nvPr/>
        </p:nvSpPr>
        <p:spPr>
          <a:xfrm>
            <a:off x="2423160" y="555040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2423160" y="586130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 ve gelecek çalışmalar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95528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Giriş ve Motivasyon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4160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nedir, neden önemlidir?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595360" y="1280160"/>
            <a:ext cx="32004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0" b="1" dirty="0">
                <a:solidFill>
                  <a:srgbClr val="EA580C">
                    <a:alpha val="2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30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I · GİRİŞ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Araştırma Konusunun Önemi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11296" cy="2743200"/>
          </a:xfrm>
          <a:prstGeom prst="roundRect">
            <a:avLst>
              <a:gd name="adj" fmla="val 3333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rgbClr val="1D1410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" y="23088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Statik teslim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60120" y="34290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 projeleri dönem sonunda tek bir dosyayla değerlendirilir; süreç görünmez.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511296" cy="2743200"/>
          </a:xfrm>
          <a:prstGeom prst="roundRect">
            <a:avLst>
              <a:gd name="adj" fmla="val 3333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4663440" y="2148840"/>
            <a:ext cx="640080" cy="640080"/>
          </a:xfrm>
          <a:prstGeom prst="ellipse">
            <a:avLst/>
          </a:prstGeom>
          <a:solidFill>
            <a:srgbClr val="1D1410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3460" y="23088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“Serbest binici”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4663440" y="34290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Bireysel katkı ölçülemediği için emek dağılımı adaletsiz kalır.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46720" y="1828800"/>
            <a:ext cx="3511296" cy="2743200"/>
          </a:xfrm>
          <a:prstGeom prst="roundRect">
            <a:avLst>
              <a:gd name="adj" fmla="val 3333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8366760" y="2148840"/>
            <a:ext cx="640080" cy="640080"/>
          </a:xfrm>
          <a:prstGeom prst="ellipse">
            <a:avLst/>
          </a:prstGeom>
          <a:solidFill>
            <a:srgbClr val="1D1410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6780" y="23088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Çevikten uzak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8366760" y="34290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Öğrenciler, sektörün temeli olan çevik takım pratiklerinden mahrum kalır.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B9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Hedef:  </a:t>
            </a:r>
            <a:r>
              <a:rPr lang="en-US" sz="2000" i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süreci görünür, katkıyı ölçülebilir ve değerlendirmeyi adil kılmak.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II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95528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Literatür Araştırması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4160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İlgili çalışmalar ve eksik kalan nokta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595360" y="1280160"/>
            <a:ext cx="32004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0" b="1" dirty="0">
                <a:solidFill>
                  <a:srgbClr val="EA580C">
                    <a:alpha val="2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30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II · LİTERATÜR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İlgili Çalışmalar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11296" cy="3611880"/>
          </a:xfrm>
          <a:prstGeom prst="roundRect">
            <a:avLst>
              <a:gd name="adj" fmla="val 2604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2962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Yönetim Sistemleri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2542032"/>
            <a:ext cx="2962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3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 · Blackboard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içeriği ve dosya teslimi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 ve bireysel katkı görünmez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Çevik/endüstriyel pratik yok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511296" cy="3611880"/>
          </a:xfrm>
          <a:prstGeom prst="roundRect">
            <a:avLst>
              <a:gd name="adj" fmla="val 2604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617720" y="2011680"/>
            <a:ext cx="2962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Yönetim Araçları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617720" y="2542032"/>
            <a:ext cx="2962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3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· Trello · GitHub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17720" y="297180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 çevik akış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Akademik/çok kiracılı değil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değerlendirme yok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3511296" cy="3611880"/>
          </a:xfrm>
          <a:prstGeom prst="roundRect">
            <a:avLst>
              <a:gd name="adj" fmla="val 2604"/>
            </a:avLst>
          </a:prstGeom>
          <a:solidFill>
            <a:srgbClr val="1D1410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8046720" y="1783080"/>
            <a:ext cx="3511296" cy="3611880"/>
          </a:xfrm>
          <a:prstGeom prst="roundRect">
            <a:avLst>
              <a:gd name="adj" fmla="val 2604"/>
            </a:avLst>
          </a:prstGeom>
          <a:solidFill>
            <a:srgbClr val="1D1410">
              <a:alpha val="0"/>
            </a:srgbClr>
          </a:solidFill>
          <a:ln w="22225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8321040" y="2011680"/>
            <a:ext cx="2962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CampusFlow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321040" y="2542032"/>
            <a:ext cx="2962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3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çalışma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321040" y="297180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Akademik + çevik tek platform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katkısını otomatik dinler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ile adil not önerisi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B08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Boşluk: akademik bağlama uygun, çevik ve yapay zekâ destekli adil değerlendirme yapan bütünleşik bir platform yoktu.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III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95528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Metodoloji ve Sistem Tasarımı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4160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Yöntem, mimari ve veri tabanı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595360" y="1280160"/>
            <a:ext cx="32004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0" b="1" dirty="0">
                <a:solidFill>
                  <a:srgbClr val="EA580C">
                    <a:alpha val="2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30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III · YÖNTEM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Yöntem ve Materyaller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tam yığın (full-stack) bir web mimarisi; çevik geliştirme yöntemiyle hayata geçirildi.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587752" cy="1417320"/>
          </a:xfrm>
          <a:prstGeom prst="roundRect">
            <a:avLst>
              <a:gd name="adj" fmla="val 6452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204" y="2258568"/>
            <a:ext cx="603504" cy="603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9864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0080" y="3154680"/>
            <a:ext cx="2587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2057400"/>
            <a:ext cx="2587752" cy="1417320"/>
          </a:xfrm>
          <a:prstGeom prst="roundRect">
            <a:avLst>
              <a:gd name="adj" fmla="val 6452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1124" y="2258568"/>
            <a:ext cx="603504" cy="6035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9000" y="289864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3429000" y="3154680"/>
            <a:ext cx="2587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Arayüz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2057400"/>
            <a:ext cx="2587752" cy="1417320"/>
          </a:xfrm>
          <a:prstGeom prst="roundRect">
            <a:avLst>
              <a:gd name="adj" fmla="val 6452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0044" y="2258568"/>
            <a:ext cx="603504" cy="6035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17920" y="289864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217920" y="3154680"/>
            <a:ext cx="2587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güvenliği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9006840" y="2057400"/>
            <a:ext cx="2587752" cy="1417320"/>
          </a:xfrm>
          <a:prstGeom prst="roundRect">
            <a:avLst>
              <a:gd name="adj" fmla="val 6452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8964" y="2258568"/>
            <a:ext cx="603504" cy="6035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06840" y="289864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9006840" y="3154680"/>
            <a:ext cx="2587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Backend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40080" y="3703320"/>
            <a:ext cx="2587752" cy="1417320"/>
          </a:xfrm>
          <a:prstGeom prst="roundRect">
            <a:avLst>
              <a:gd name="adj" fmla="val 6452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32204" y="3904488"/>
            <a:ext cx="603504" cy="60350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54456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640080" y="4800600"/>
            <a:ext cx="2587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tabanı + RLS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429000" y="3703320"/>
            <a:ext cx="2587752" cy="1417320"/>
          </a:xfrm>
          <a:prstGeom prst="roundRect">
            <a:avLst>
              <a:gd name="adj" fmla="val 6452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1124" y="3904488"/>
            <a:ext cx="603504" cy="60350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429000" y="454456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3429000" y="4800600"/>
            <a:ext cx="2587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6217920" y="3703320"/>
            <a:ext cx="2587752" cy="1417320"/>
          </a:xfrm>
          <a:prstGeom prst="roundRect">
            <a:avLst>
              <a:gd name="adj" fmla="val 6452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10044" y="3904488"/>
            <a:ext cx="603504" cy="60350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217920" y="454456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450" dirty="0"/>
          </a:p>
        </p:txBody>
      </p:sp>
      <p:sp>
        <p:nvSpPr>
          <p:cNvPr id="32" name="Text 23"/>
          <p:cNvSpPr/>
          <p:nvPr/>
        </p:nvSpPr>
        <p:spPr>
          <a:xfrm>
            <a:off x="6217920" y="4800600"/>
            <a:ext cx="2587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9006840" y="3703320"/>
            <a:ext cx="2587752" cy="1417320"/>
          </a:xfrm>
          <a:prstGeom prst="roundRect">
            <a:avLst>
              <a:gd name="adj" fmla="val 6452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98964" y="3904488"/>
            <a:ext cx="603504" cy="60350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006840" y="454456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450" dirty="0"/>
          </a:p>
        </p:txBody>
      </p:sp>
      <p:sp>
        <p:nvSpPr>
          <p:cNvPr id="36" name="Text 26"/>
          <p:cNvSpPr/>
          <p:nvPr/>
        </p:nvSpPr>
        <p:spPr>
          <a:xfrm>
            <a:off x="9006840" y="4800600"/>
            <a:ext cx="2587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Çalışma zamanı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B08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Çevik yöntem: iş listesi (backlog) → sprint → Kanban → sürekli teslim.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III · METODOLOJİ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Akışı — “Sıfır-Dosya” Mimarisi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ve çalışma alanındaki gerçek dijital katkı asenkron dinlenir, yapay zekâ ile değerlendirmeye dönüşür.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325880" y="3886200"/>
            <a:ext cx="9537192" cy="0"/>
          </a:xfrm>
          <a:prstGeom prst="line">
            <a:avLst/>
          </a:prstGeom>
          <a:noFill/>
          <a:ln w="317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371600" cy="1371600"/>
          </a:xfrm>
          <a:prstGeom prst="ellipse">
            <a:avLst/>
          </a:prstGeom>
          <a:solidFill>
            <a:srgbClr val="14110E"/>
          </a:solidFill>
          <a:ln w="317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3575304"/>
            <a:ext cx="621792" cy="6217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46817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65760" y="49743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&amp; PR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024378" y="3200400"/>
            <a:ext cx="1371600" cy="1371600"/>
          </a:xfrm>
          <a:prstGeom prst="ellipse">
            <a:avLst/>
          </a:prstGeom>
          <a:solidFill>
            <a:srgbClr val="14110E"/>
          </a:solidFill>
          <a:ln w="19050">
            <a:solidFill>
              <a:srgbClr val="3A332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9282" y="3575304"/>
            <a:ext cx="621792" cy="6217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50058" y="46817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750058" y="49743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 takibi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08676" y="3200400"/>
            <a:ext cx="1371600" cy="1371600"/>
          </a:xfrm>
          <a:prstGeom prst="ellipse">
            <a:avLst/>
          </a:prstGeom>
          <a:solidFill>
            <a:srgbClr val="14110E"/>
          </a:solidFill>
          <a:ln w="19050">
            <a:solidFill>
              <a:srgbClr val="3A332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3580" y="3575304"/>
            <a:ext cx="621792" cy="6217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34356" y="46817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134356" y="49743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Dönem planı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7792974" y="3200400"/>
            <a:ext cx="1371600" cy="1371600"/>
          </a:xfrm>
          <a:prstGeom prst="ellipse">
            <a:avLst/>
          </a:prstGeom>
          <a:solidFill>
            <a:srgbClr val="14110E"/>
          </a:solidFill>
          <a:ln w="19050">
            <a:solidFill>
              <a:srgbClr val="3A332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7878" y="3575304"/>
            <a:ext cx="621792" cy="62179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18654" y="46817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7518654" y="49743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10177272" y="3200400"/>
            <a:ext cx="1371600" cy="1371600"/>
          </a:xfrm>
          <a:prstGeom prst="ellipse">
            <a:avLst/>
          </a:prstGeom>
          <a:solidFill>
            <a:srgbClr val="14110E"/>
          </a:solidFill>
          <a:ln w="317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52176" y="3575304"/>
            <a:ext cx="621792" cy="62179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902952" y="46817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Önerisi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9902952" y="49743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Gerekçeli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Manipülasyona açık akran anketleri olmadan, </a:t>
            </a:r>
            <a:r>
              <a:rPr lang="en-US" sz="1400" b="1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efor dağılımı</a:t>
            </a:r>
            <a:r>
              <a:rPr lang="en-US" sz="1400" i="1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ortaya çıkar.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III · MİMARİ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Tabanı Mimarisi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852160" cy="1051560"/>
          </a:xfrm>
          <a:prstGeom prst="roundRect">
            <a:avLst>
              <a:gd name="adj" fmla="val 8696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68680" y="19476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08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İSTEMCİ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React arayüzü · Server Actions</a:t>
            </a:r>
            <a:endParaRPr lang="en-US" sz="13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429000" y="2843784"/>
            <a:ext cx="274320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3200400"/>
            <a:ext cx="5852160" cy="1051560"/>
          </a:xfrm>
          <a:prstGeom prst="roundRect">
            <a:avLst>
              <a:gd name="adj" fmla="val 8696"/>
            </a:avLst>
          </a:prstGeom>
          <a:solidFill>
            <a:srgbClr val="1D1410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868680" y="33649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GÜVENLİK KATMANI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37033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· Row Level Security (RLS) · Çok kiracılı izolasyon</a:t>
            </a:r>
            <a:endParaRPr lang="en-US" sz="13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429000" y="4261104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0080" y="4617720"/>
            <a:ext cx="5852160" cy="1051560"/>
          </a:xfrm>
          <a:prstGeom prst="roundRect">
            <a:avLst>
              <a:gd name="adj" fmla="val 8696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9"/>
          <p:cNvSpPr/>
          <p:nvPr/>
        </p:nvSpPr>
        <p:spPr>
          <a:xfrm>
            <a:off x="868680" y="47823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08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TABANI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68680" y="51206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15+ tablo · 17 migration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812280" y="1783080"/>
            <a:ext cx="4709160" cy="3931920"/>
          </a:xfrm>
          <a:prstGeom prst="roundRect">
            <a:avLst>
              <a:gd name="adj" fmla="val 2326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Text 12"/>
          <p:cNvSpPr/>
          <p:nvPr/>
        </p:nvSpPr>
        <p:spPr>
          <a:xfrm>
            <a:off x="708660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Tablolar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7086600" y="242316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100D0B"/>
          </a:solidFill>
          <a:ln w="12700">
            <a:solidFill>
              <a:srgbClr val="3A332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4"/>
          <p:cNvSpPr/>
          <p:nvPr/>
        </p:nvSpPr>
        <p:spPr>
          <a:xfrm>
            <a:off x="722376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organizations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9281160" y="242316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100D0B"/>
          </a:solidFill>
          <a:ln w="12700">
            <a:solidFill>
              <a:srgbClr val="3A332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6"/>
          <p:cNvSpPr/>
          <p:nvPr/>
        </p:nvSpPr>
        <p:spPr>
          <a:xfrm>
            <a:off x="941832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profiles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7086600" y="3026664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100D0B"/>
          </a:solidFill>
          <a:ln w="12700">
            <a:solidFill>
              <a:srgbClr val="3A332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18"/>
          <p:cNvSpPr/>
          <p:nvPr/>
        </p:nvSpPr>
        <p:spPr>
          <a:xfrm>
            <a:off x="7223760" y="302666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courses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9281160" y="3026664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100D0B"/>
          </a:solidFill>
          <a:ln w="12700">
            <a:solidFill>
              <a:srgbClr val="3A332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0"/>
          <p:cNvSpPr/>
          <p:nvPr/>
        </p:nvSpPr>
        <p:spPr>
          <a:xfrm>
            <a:off x="9418320" y="302666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teams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7086600" y="3630168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100D0B"/>
          </a:solidFill>
          <a:ln w="12700">
            <a:solidFill>
              <a:srgbClr val="3A332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2"/>
          <p:cNvSpPr/>
          <p:nvPr/>
        </p:nvSpPr>
        <p:spPr>
          <a:xfrm>
            <a:off x="7223760" y="36301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sprints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9281160" y="3630168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100D0B"/>
          </a:solidFill>
          <a:ln w="12700">
            <a:solidFill>
              <a:srgbClr val="3A332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4"/>
          <p:cNvSpPr/>
          <p:nvPr/>
        </p:nvSpPr>
        <p:spPr>
          <a:xfrm>
            <a:off x="9418320" y="36301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7086600" y="4233672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100D0B"/>
          </a:solidFill>
          <a:ln w="12700">
            <a:solidFill>
              <a:srgbClr val="3A332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6"/>
          <p:cNvSpPr/>
          <p:nvPr/>
        </p:nvSpPr>
        <p:spPr>
          <a:xfrm>
            <a:off x="7223760" y="42336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task_integrations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9281160" y="4233672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100D0B"/>
          </a:solidFill>
          <a:ln w="12700">
            <a:solidFill>
              <a:srgbClr val="3A332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28"/>
          <p:cNvSpPr/>
          <p:nvPr/>
        </p:nvSpPr>
        <p:spPr>
          <a:xfrm>
            <a:off x="9418320" y="42336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ai_analyses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7086600" y="4837176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100D0B"/>
          </a:solidFill>
          <a:ln w="12700">
            <a:solidFill>
              <a:srgbClr val="3A332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0"/>
          <p:cNvSpPr/>
          <p:nvPr/>
        </p:nvSpPr>
        <p:spPr>
          <a:xfrm>
            <a:off x="7223760" y="483717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grade_suggestions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9281160" y="4837176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100D0B"/>
          </a:solidFill>
          <a:ln w="12700">
            <a:solidFill>
              <a:srgbClr val="3A332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2"/>
          <p:cNvSpPr/>
          <p:nvPr/>
        </p:nvSpPr>
        <p:spPr>
          <a:xfrm>
            <a:off x="9418320" y="483717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calendar_events</a:t>
            </a:r>
            <a:endParaRPr lang="en-US" sz="1150" dirty="0"/>
          </a:p>
        </p:txBody>
      </p:sp>
      <p:sp>
        <p:nvSpPr>
          <p:cNvPr id="37" name="Text 33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08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DEFINER fonksiyonları ile RLS özyinelemesi çözüldü; her kurum kendi verisinde izole.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IV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95528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Uygulama ve Bulgular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4160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Geliştirilen sistem ve değerlendirme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595360" y="1280160"/>
            <a:ext cx="32004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0" b="1" dirty="0">
                <a:solidFill>
                  <a:srgbClr val="EA580C">
                    <a:alpha val="2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30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IV · UYGULAMA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Geliştirilen Sistem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309360" cy="4069080"/>
          </a:xfrm>
          <a:prstGeom prst="roundRect">
            <a:avLst>
              <a:gd name="adj" fmla="val 2247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109728" cy="109728"/>
          </a:xfrm>
          <a:prstGeom prst="ellipse">
            <a:avLst/>
          </a:prstGeom>
          <a:solidFill>
            <a:srgbClr val="5751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1033272" y="2011680"/>
            <a:ext cx="109728" cy="109728"/>
          </a:xfrm>
          <a:prstGeom prst="ellipse">
            <a:avLst/>
          </a:prstGeom>
          <a:solidFill>
            <a:srgbClr val="5751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1197864" y="2011680"/>
            <a:ext cx="109728" cy="109728"/>
          </a:xfrm>
          <a:prstGeom prst="ellipse">
            <a:avLst/>
          </a:prstGeom>
          <a:solidFill>
            <a:srgbClr val="5751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1463040" y="1938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3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Rapor Paneli</a:t>
            </a:r>
            <a:endParaRPr lang="en-US" sz="1100" dirty="0"/>
          </a:p>
        </p:txBody>
      </p:sp>
      <p:pic>
        <p:nvPicPr>
          <p:cNvPr id="9" name="Image 0" descr="ss1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1248" y="2331720"/>
            <a:ext cx="5907024" cy="33101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223760" y="18288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Tabanlı 4 Panel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223760" y="2331720"/>
            <a:ext cx="4297680" cy="768096"/>
          </a:xfrm>
          <a:prstGeom prst="roundRect">
            <a:avLst>
              <a:gd name="adj" fmla="val 11905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7424928" y="2487168"/>
            <a:ext cx="457200" cy="457200"/>
          </a:xfrm>
          <a:prstGeom prst="ellipse">
            <a:avLst/>
          </a:prstGeom>
          <a:solidFill>
            <a:srgbClr val="1D1410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9228" y="2601468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46720" y="245059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Süper Admin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804672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üniversiteler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223760" y="3200400"/>
            <a:ext cx="4297680" cy="768096"/>
          </a:xfrm>
          <a:prstGeom prst="roundRect">
            <a:avLst>
              <a:gd name="adj" fmla="val 11905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3"/>
          <p:cNvSpPr/>
          <p:nvPr/>
        </p:nvSpPr>
        <p:spPr>
          <a:xfrm>
            <a:off x="7424928" y="3355848"/>
            <a:ext cx="457200" cy="457200"/>
          </a:xfrm>
          <a:prstGeom prst="ellipse">
            <a:avLst/>
          </a:prstGeom>
          <a:solidFill>
            <a:srgbClr val="1D1410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9228" y="3470148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46720" y="331927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046720" y="3611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kurumu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223760" y="4069080"/>
            <a:ext cx="4297680" cy="768096"/>
          </a:xfrm>
          <a:prstGeom prst="roundRect">
            <a:avLst>
              <a:gd name="adj" fmla="val 11905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7"/>
          <p:cNvSpPr/>
          <p:nvPr/>
        </p:nvSpPr>
        <p:spPr>
          <a:xfrm>
            <a:off x="7424928" y="4224528"/>
            <a:ext cx="457200" cy="457200"/>
          </a:xfrm>
          <a:prstGeom prst="ellipse">
            <a:avLst/>
          </a:prstGeom>
          <a:solidFill>
            <a:srgbClr val="1D1410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9228" y="4338828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046720" y="418795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Eğitmen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046720" y="4480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Ders, takım, değerlendirme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7223760" y="4937760"/>
            <a:ext cx="4297680" cy="768096"/>
          </a:xfrm>
          <a:prstGeom prst="roundRect">
            <a:avLst>
              <a:gd name="adj" fmla="val 11905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1"/>
          <p:cNvSpPr/>
          <p:nvPr/>
        </p:nvSpPr>
        <p:spPr>
          <a:xfrm>
            <a:off x="7424928" y="5093208"/>
            <a:ext cx="457200" cy="457200"/>
          </a:xfrm>
          <a:prstGeom prst="ellipse">
            <a:avLst/>
          </a:prstGeom>
          <a:solidFill>
            <a:srgbClr val="1D1410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9228" y="5207508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046720" y="505663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8046720" y="5349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Sprint, görev, teslim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IV · BULGULAR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Performans Analizi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87752" cy="1371600"/>
          </a:xfrm>
          <a:prstGeom prst="roundRect">
            <a:avLst>
              <a:gd name="adj" fmla="val 6667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40080" y="1810512"/>
            <a:ext cx="2587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B9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542032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tabanı tablosu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737360"/>
            <a:ext cx="2587752" cy="1371600"/>
          </a:xfrm>
          <a:prstGeom prst="roundRect">
            <a:avLst>
              <a:gd name="adj" fmla="val 6667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410712" y="1810512"/>
            <a:ext cx="2587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B9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502152" y="2542032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seviyesi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81344" y="1737360"/>
            <a:ext cx="2587752" cy="1371600"/>
          </a:xfrm>
          <a:prstGeom prst="roundRect">
            <a:avLst>
              <a:gd name="adj" fmla="val 6667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181344" y="1810512"/>
            <a:ext cx="2587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B9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Fonksiyonel modül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51976" y="1737360"/>
            <a:ext cx="2587752" cy="1371600"/>
          </a:xfrm>
          <a:prstGeom prst="roundRect">
            <a:avLst>
              <a:gd name="adj" fmla="val 6667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8951976" y="1810512"/>
            <a:ext cx="2587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B9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043416" y="2542032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kiracılı izolasyon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10908792" cy="2697480"/>
          </a:xfrm>
          <a:prstGeom prst="roundRect">
            <a:avLst>
              <a:gd name="adj" fmla="val 3390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868680" y="3474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Yetenek Karşılaştırması (niteliksel)</a:t>
            </a:r>
            <a:endParaRPr lang="en-US" sz="135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777240" y="3840480"/>
          <a:ext cx="1060704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V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95528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4160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 ve gelecek çalışmalar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595360" y="1280160"/>
            <a:ext cx="32004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0" b="1" dirty="0">
                <a:solidFill>
                  <a:srgbClr val="EA580C">
                    <a:alpha val="2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30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V · SONUÇ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 ve Tartışma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67528" cy="1691640"/>
          </a:xfrm>
          <a:prstGeom prst="roundRect">
            <a:avLst>
              <a:gd name="adj" fmla="val 5405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914400" y="2075688"/>
            <a:ext cx="640080" cy="640080"/>
          </a:xfrm>
          <a:prstGeom prst="ellipse">
            <a:avLst/>
          </a:prstGeom>
          <a:solidFill>
            <a:srgbClr val="1D1410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" y="223570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3911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Adil değerlendirme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737360" y="2496312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dijital katkı analiz edilerek “serbest binici” sorunu önlenir.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81344" y="1783080"/>
            <a:ext cx="5367528" cy="1691640"/>
          </a:xfrm>
          <a:prstGeom prst="roundRect">
            <a:avLst>
              <a:gd name="adj" fmla="val 5405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6455664" y="2075688"/>
            <a:ext cx="640080" cy="640080"/>
          </a:xfrm>
          <a:prstGeom prst="ellipse">
            <a:avLst/>
          </a:prstGeom>
          <a:solidFill>
            <a:srgbClr val="1D1410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684" y="223570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78624" y="203911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Çevik yetkinlik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278624" y="2496312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Öğrenciler Sprint/Kanban ile sektöre hazır pratikler kazanır.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3703320"/>
            <a:ext cx="5367528" cy="1691640"/>
          </a:xfrm>
          <a:prstGeom prst="roundRect">
            <a:avLst>
              <a:gd name="adj" fmla="val 5405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914400" y="3995928"/>
            <a:ext cx="640080" cy="640080"/>
          </a:xfrm>
          <a:prstGeom prst="ellipse">
            <a:avLst/>
          </a:prstGeom>
          <a:solidFill>
            <a:srgbClr val="1D1410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420" y="4155948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395935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Yapay zekâ analitiği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1737360" y="4416552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ile şeffaf, gerekçeli ve bireysel not önerileri üretilir.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181344" y="3703320"/>
            <a:ext cx="5367528" cy="1691640"/>
          </a:xfrm>
          <a:prstGeom prst="roundRect">
            <a:avLst>
              <a:gd name="adj" fmla="val 5405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6455664" y="3995928"/>
            <a:ext cx="640080" cy="640080"/>
          </a:xfrm>
          <a:prstGeom prst="ellipse">
            <a:avLst/>
          </a:prstGeom>
          <a:solidFill>
            <a:srgbClr val="1D1410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5684" y="4155948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78624" y="395935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Güvenli &amp; ölçeklenebilir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278624" y="4416552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kiracılı mimari ve RLS ile kurumsal düzeyde izolasyon.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V · GELECEK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Gelecek Çalışmalar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87752" cy="3383280"/>
          </a:xfrm>
          <a:prstGeom prst="roundRect">
            <a:avLst>
              <a:gd name="adj" fmla="val 3534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568196" y="2377440"/>
            <a:ext cx="731520" cy="731520"/>
          </a:xfrm>
          <a:prstGeom prst="ellipse">
            <a:avLst/>
          </a:prstGeom>
          <a:solidFill>
            <a:srgbClr val="1D1410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1076" y="2560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91840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2221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 Uygulama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4297680"/>
            <a:ext cx="2130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25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iOS/Android ile her yerden erişim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29000" y="2011680"/>
            <a:ext cx="2587752" cy="3383280"/>
          </a:xfrm>
          <a:prstGeom prst="roundRect">
            <a:avLst>
              <a:gd name="adj" fmla="val 3534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4357116" y="2377440"/>
            <a:ext cx="731520" cy="731520"/>
          </a:xfrm>
          <a:prstGeom prst="ellipse">
            <a:avLst/>
          </a:prstGeom>
          <a:solidFill>
            <a:srgbClr val="1D1410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9996" y="25603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3291840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II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611880" y="3611880"/>
            <a:ext cx="2221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Daha Derin AI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657600" y="4297680"/>
            <a:ext cx="2130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25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kalitesi ve katkı tahmini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217920" y="2011680"/>
            <a:ext cx="2587752" cy="3383280"/>
          </a:xfrm>
          <a:prstGeom prst="roundRect">
            <a:avLst>
              <a:gd name="adj" fmla="val 3534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3"/>
          <p:cNvSpPr/>
          <p:nvPr/>
        </p:nvSpPr>
        <p:spPr>
          <a:xfrm>
            <a:off x="7146036" y="2377440"/>
            <a:ext cx="731520" cy="731520"/>
          </a:xfrm>
          <a:prstGeom prst="ellipse">
            <a:avLst/>
          </a:prstGeom>
          <a:solidFill>
            <a:srgbClr val="1D1410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8916" y="256032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0" y="3291840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III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0800" y="3611880"/>
            <a:ext cx="2221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Çoklu Dil &amp; Global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446520" y="4297680"/>
            <a:ext cx="2130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25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Uluslararası kurumlara ölçeklenme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9006840" y="2011680"/>
            <a:ext cx="2587752" cy="3383280"/>
          </a:xfrm>
          <a:prstGeom prst="roundRect">
            <a:avLst>
              <a:gd name="adj" fmla="val 3534"/>
            </a:avLst>
          </a:prstGeom>
          <a:solidFill>
            <a:srgbClr val="14110E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18"/>
          <p:cNvSpPr/>
          <p:nvPr/>
        </p:nvSpPr>
        <p:spPr>
          <a:xfrm>
            <a:off x="9934956" y="2377440"/>
            <a:ext cx="731520" cy="731520"/>
          </a:xfrm>
          <a:prstGeom prst="ellipse">
            <a:avLst/>
          </a:prstGeom>
          <a:solidFill>
            <a:srgbClr val="1D1410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7836" y="256032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06840" y="3291840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IV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189720" y="3611880"/>
            <a:ext cx="2221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LMS Entegrasyonu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9235440" y="4297680"/>
            <a:ext cx="2130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25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Moodle/Blackboard ve not aktarımı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KAYNAKLAR &amp; SORU-CEVAP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Seçili Kaynaklar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6492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Beck, K. et al. (2001). Manifesto for Agile Software Development.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Siemens, G. (2013). Learning Analytics: The Emergence of a Discipline. American Behavioral Scientist.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Davenport, T. H. (2018). The AI Advantage. MIT Press.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Brooks, C. &amp; Greer, J. (2014). Explaining predictive models of student success. LAK.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Vaswani, A. et al. (2017). Attention Is All You Need. NeurIPS.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680960" y="1463040"/>
            <a:ext cx="3840480" cy="3657600"/>
          </a:xfrm>
          <a:prstGeom prst="roundRect">
            <a:avLst>
              <a:gd name="adj" fmla="val 2500"/>
            </a:avLst>
          </a:prstGeom>
          <a:solidFill>
            <a:srgbClr val="1D1410"/>
          </a:solidFill>
          <a:ln w="12700">
            <a:solidFill>
              <a:srgbClr val="2A241F"/>
            </a:solidFill>
            <a:prstDash val="solid"/>
          </a:ln>
          <a:effectLst>
            <a:outerShdw blurRad="1143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182880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0" y="2926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F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Sorularınız?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863840" y="3474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C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için teşekkürler.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63840" y="41148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Oğulcan Kacar
</a:t>
            </a:r>
            <a:endParaRPr lang="en-US" sz="14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ogulcankacarr@gmail.com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82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CampusFlow — koddan nota uzanan tek, adil bir akış.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842</Words>
  <Application>Microsoft Macintosh PowerPoint</Application>
  <PresentationFormat>Geniş ekran</PresentationFormat>
  <Paragraphs>207</Paragraphs>
  <Slides>17</Slides>
  <Notes>17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CampusFlow</dc:title>
  <dc:subject>PptxGenJS Presentation</dc:subject>
  <dc:creator>Oğulcan Kacar</dc:creator>
  <cp:lastModifiedBy>Oğulcan Kacar</cp:lastModifiedBy>
  <cp:revision>2</cp:revision>
  <dcterms:created xsi:type="dcterms:W3CDTF">2026-06-16T00:40:06Z</dcterms:created>
  <dcterms:modified xsi:type="dcterms:W3CDTF">2026-06-17T11:27:23Z</dcterms:modified>
</cp:coreProperties>
</file>